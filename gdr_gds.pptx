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GPUDirect RDMA (GDR)</a:t>
            </a:r>
            <a:br/>
            <a:r>
              <a:rPr sz="3400" b="1">
                <a:solidFill>
                  <a:srgbClr val="FFFFFF"/>
                </a:solidFill>
              </a:rPr>
              <a:t>与 GPUDirect Storage (GDS)</a:t>
            </a:r>
            <a:br/>
            <a:r>
              <a:rPr sz="3400" b="1">
                <a:solidFill>
                  <a:srgbClr val="FFFFFF"/>
                </a:solidFill>
              </a:rPr>
              <a:t>技术文档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8E6C9"/>
                </a:solidFill>
              </a:rPr>
              <a:t>基于 NVIDIA 官方文档整理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A5D6A7"/>
                </a:solidFill>
              </a:rPr>
              <a:t>面向工程师与架构师的平衡深度资料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GPUDirect RDMA v13.3  |  GPUDirect Storage v1.18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190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NVIDIA GPUDirect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3333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</a:rPr>
              <a:t>一、背景与动机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</a:rPr>
              <a:t>二、GPUDirect 技术演进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</a:rPr>
              <a:t>三、软件生态全景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</a:rPr>
              <a:t>四、控制面 vs 数据面路径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</a:rPr>
              <a:t>五、GPU 兼容性矩阵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</a:rPr>
              <a:t>六、GDR 技术细节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37160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</a:rPr>
              <a:t>七、GDR 全生命周期实例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</a:rPr>
              <a:t>八、GDS 技术细节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</a:rPr>
              <a:t>九、GDR vs GDS 对比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</a:rPr>
              <a:t>十、典型应用场景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</a:rPr>
              <a:t>十一、部署与启用要点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</a:rPr>
              <a:t>十二、总结与参考链接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190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NVIDIA GPUDirect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3333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一、背景与动机 — GPU 数据搬运的痛点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GPU 算力增长远快于 I/O 带宽，大模型训练中数据加载成为瓶颈，应用从 compute-bound 退化为 IO-bound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传统路径三重开销：</a:t>
            </a:r>
            <a:br/>
            <a:r>
              <a:rPr sz="1300" b="0">
                <a:solidFill>
                  <a:srgbClr val="333333"/>
                </a:solidFill>
              </a:rPr>
              <a:t>  双倍拷贝 — 数据从存储拷到 CPU bounce buffer（即 CPU 系统内存中的临时中转缓冲区），再拷到 GPU，一次搬运两份数据移动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  带宽瓶颈 — 数据须穿过 CPU 根端口，CPU PCIe 带宽可能低于 GPU/NIC 能力，CPU 成为带宽漏斗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  CPU 占用 — CPU 搬运数据干扰其他计算，引入抖动 (jitter) 与延迟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190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NVIDIA GPUDirect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3333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一、背景与动机 — GPUDirect 家族概览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6984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2286000"/>
                <a:gridCol w="548640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技术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全称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直连对象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GDR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GPUDirect RDMA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GPU ↔ 网卡 (NIC)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远程系统间 GPU 直接通信，绕过 CPU，10x 性能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GDS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GPUDirect Storage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GPU ↔ 存储 (NVMe/NVMe-oF)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存储 DMA 引擎直接搬数据进/出 GPU 显存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P2P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GPUDirect Peer-to-Peer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GPU ↔ 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经 PCIe/NVLink 的 GPU 间直接拷贝与 load/store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Video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GPUDirect for Video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GPU ↔ 采集设备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帧设备与 GPU 间高效传帧（仅 Windows）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Async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GPUDirect Async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异步触发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存储 I/O 排入 CUDA stream/graph 实现计算-I/O 联动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9377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</a:rPr>
              <a:t>本文聚焦 GDR (RDMA) 与 GDS (Storage) 两项核心技术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核心范式：控制面在 CPU 建立通路，数据面由设备 DMA 引擎直连 GPU 显存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190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NVIDIA GPUDirect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3333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二、GPUDirect 技术演进 — 早期探索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8E6C9"/>
                </a:solidFill>
              </a:rPr>
              <a:t>核心演进主线：直连对象不断扩展，实现从专有驱动向 Linux 上游标准靠拢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</a:rPr>
              <a:t>2010 年前后 (Fermi 时代)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>首次提出 GPUDirect 概念，允许第三方 PCIe 设备绕过 CPU 直接访问 GPU 显存，奠定"设备直连显存"的技术基础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</a:rPr>
              <a:t>2011 (CUDA 4.0)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>引入统一虚拟地址空间 (UVA)，推出 GPUDirect P2P：同一节点内多块 GPU 经 PCIe 直接拷贝与互访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</a:rPr>
              <a:t>2012 (Kepler + CUDA 5.0)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>GPUDirect RDMA 正式登场：把直连范围扩展到 GPU 与远端第三方设备之间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确立"控制面在 CPU，数据面由设备 DMA 直连"的核心范式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明确硬件前提：两端共享同一 PCIe 根复合体、IOMMU 须禁用或直通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190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NVIDIA GPUDirect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3333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二、GPUDirect 技术演进 — 产品化与扩展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8E6C9"/>
                </a:solidFill>
              </a:rPr>
              <a:t>从实验室到产品化：网络侧直连能力日趋成熟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</a:rPr>
              <a:t>2014-2016 (CUDA 6.0 - 8.0)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取消强制安全令牌，降低第三方接入门槛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BAR 映射可在多次锁定间复用，节省资源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补齐 I/O 地址与 CPU 物理地址不一致平台的地址映射能力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GPUDirect Video 将直连对象扩展到帧采集设备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</a:rPr>
              <a:t>2018-2021 (CUDA 10.1 - 11.4)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向嵌入式/车载平台延伸：Jetson AGX Xavier、DRIVE AGX Xavier、Jetson Orin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nvidia-peermem.ko 作为官方 in-tree 模块随驱动发布——标志网络侧直连进入产品化阶段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与 Mellanox OFED、InfiniBand、RoCE 协议栈深度协同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190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NVIDIA GPUDirect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3333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二、GPUDirect 技术演进 — 现代化与标准化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8E6C9"/>
                </a:solidFill>
              </a:rPr>
              <a:t>三条交织脉络：直连对象扩展 → 实现上游化 → 控制面与 CUDA 融合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</a:rPr>
              <a:t>2020 (CUDA 11.x) — GDS 登场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>GPUDirect Storage 加入 Magnum IO 体系：存储 DMA 引擎直接搬数据进/出 GPU 显存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</a:rPr>
              <a:t>2022-2024 (CUDA 12.2-12.8)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异步 IO 接入 CUDA 流与图，实现"数据就绪后自动启 kernel、kernel 完成后自动存盘"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支持 CPU 与 GPU 间可迁移内存，兼容 Grace-Hopper 统一内存架构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CUDA 12.8 起 NVMe 直连改走 Linux 上游内核 PCI P2PDMA 基础设施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</a:rPr>
              <a:t>2025 (CUDA 13.0) — 上游化演进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>传统 nv-p2p 接口在 Blackwell SoC 进入弃用，NVIDIA 鼓励迁移到 Linux 上游标准接口 (pin_user_pages / dma_map_sgtable)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190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NVIDIA GPUDirect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3333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三、软件生态全景 — nvidia.ko（GPU 端地址提供者）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8E6C9"/>
                </a:solidFill>
              </a:rPr>
              <a:t>nvidia.ko 本身不感知"是谁在 DMA"——它只负责把地址交出来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>nvidia.ko 是 NVIDIA GPU 内核驱动，是整个 GDR 机制的底层基石。它在操作系统层面的空白地带（Linux 缺乏在驱动之间交换 MMIO 区的标准机制）自行承担地址翻译与映射职责。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</a:rPr>
              <a:t>核心作用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页锁定 (pin)：把 GPU 虚拟地址对应显存锁定，确保 DMA 期间不发生迁移或回收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物理地址回填：返回 GPU BAR 总线地址的物理页表数组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DMA 映射：平台 I/O 地址与 CPU 物理地址不一致时进一步映射到设备 I/O 地址空间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撤销通知 (free callback)：GPU 显存释放/进程退出时同步回调第三方驱动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</a:rPr>
              <a:t>关键 API（内核态导出符号）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>nvidia_p2p_get_pages() / nvidia_p2p_put_pages() / nvidia_p2p_dma_map_pages() / nvidia_p2p_free_page_table()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190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NVIDIA GPUDirect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3333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三、软件生态全景 — nvidia-peermem.ko + MLNX_OFED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8E6C9"/>
                </a:solidFill>
              </a:rPr>
              <a:t>nvidia-peermem 是 GDR 在 IB 侧的"唯一接入点"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</a:rPr>
              <a:t>nvidia-peermem.ko — 胶水模块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>CUDA 11.4 起随驱动发布的 in-tree 模块。站在 InfiniBand/RDMA 子系统一侧，把"GPU 显存"伪装成可供 RDMA 注册的"对等内存 (peer memory)"。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向 IB Core 注册为 peer memory client，回调 nvidia-p2p 获取 GPU BAR 地址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把地址回填给 HCA 驱动 (mlx5_ib)，编程 mkey 转换表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支持 ConnectX-3 VPI 及更新适配器，兼容 InfiniBand 与 RoCE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取代已弃用的社区离线模块 nv_peer_mem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</a:rPr>
              <a:t>MLNX_OFED — 核心承载栈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>绝大多数 GDR 真实部署 (NCCL、MPI) 都跑在 MLNX_OFED 之上。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提供 RDMA peer-memory 框架与标准 API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ConnectX HCA 驱动接收 GPU BAR 地址后经 PCIe 直接 DMA 读写 GPU 显存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版本协同约束：nvidia-peermem 须用 MLNX_OFED 的 RDMA API 编译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190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NVIDIA GPUDirect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3333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三、软件生态全景 — 第三方驱动如何接入 GDR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</a:rPr>
              <a:t>用户态职责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cudaMalloc 分配 GPU 显存（UVA 空间）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cuPointerGetAttribute() 判定指针归属 (CPU vs GPU)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cuPointerSetAttribute(SYNC_MEMOPS) 启用同步语义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将 GPU VA + 长度经自研驱动 IOCTL 传入内核态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维护 registration cache + lazy unpinning 优化性能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</a:rPr>
              <a:t>内核态职责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编译时链接 nvidia.ko 的 Module.symvers (KBUILD_EXTRA_SYMBOLS)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64KB 对齐后调用 nvidia_p2p_get_pages() 获取物理页表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按需调用 nvidia_p2p_dma_map_pages() 映射到设备 I/O 地址空间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将 scatter-gather 列表写入自研设备 DMA 引擎寄存器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注册 free_callback 处理 GPU 显存提前释放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</a:rPr>
              <a:t>接入方式选择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>Mellanox 网卡 → 复用 nvidia-peermem + MLNX_OFED；非 Mellanox 设备 → 自研内核驱动直接调用 nvidia_p2p_* 符号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190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NVIDIA GPUDirect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3333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三、软件生态全景 — GDS 软件组件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1645920"/>
                <a:gridCol w="594360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组件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来源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作用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libcufile.so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NVIDIA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用户态闭源库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cuFile API 实现：Driver / 同步 IO / Batch / Stream async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libcufile_static.a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NVIDIA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静态库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静态链接场景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libcufile_rdma.so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NVIDIA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用户态库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获取 RDMA info (keys, GID, LID) 给 libcufile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nvidia-fs.ko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NVIDIA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内核驱动 GPLv2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处理 cuFile IOCTL，DMA callback 翻译 GPU VA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libcuda.so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NVIDIA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CUDA 驱动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stream 子集 API 运行时依赖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第三方 FS 驱动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伙伴/厂商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内核态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Lustre / WekaFS / NFS / EXAScaler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kvikio/RAPIDS/DALI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开源社区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C++/Python 高层封装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7607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</a:rPr>
              <a:t>nvidia-fs.ko 以 GPLv2 许可发布 — 这是 GDS 内核态集成的关键合规边界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CUDA 12.8 起 NVMe 直连走 upstream PCI P2PDMA，不再需要 nvidia-fs.ko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190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NVIDIA GPUDirect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3333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四、控制面 vs 数据面 — 三种数据搬移 Agent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6984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743200"/>
                <a:gridCol w="338328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搬移方式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是否需要 bounce buffer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GPU DMA 引擎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由 CPU 编程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需要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第三方设备通常不暴露内存供他方 DMA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CPU load/store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CPU 在两个设备间拷贝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需要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CPU 无法在两个设备间直接拷贝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存储侧 DMA 引擎 (NVMe/NIC/RAID)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GPU BAR 地址暴露给 DMA 引擎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不需要 (GDS 直连)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NIC 驱动 (Mellanox 等) 支持此路径——GDS 的价值所在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114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</a:rPr>
              <a:t>核心范式：控制面（CPU 侧软件建立通路）与数据面（设备 DMA 引擎直接搬数据）分离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GDS = 让存储侧 DMA 引擎路径在文件系统存储端点可用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190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NVIDIA GPUDirect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3333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四、GDR 控制流/数据流分离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8E6C9"/>
                </a:solidFill>
              </a:rPr>
              <a:t>GDR 扩展标准 DMA Transfer：新增用户态 CUDA 库 + NVIDIA 内核驱动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</a:rPr>
              <a:t>控制面（CPU 侧：IOCTL + pin/unpin + callback）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CPU 内存 → 标准 get_user_pages() / put_page()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GPU 内存 → nvidia.ko 提供的 nvidia_p2p_get_pages / put_pages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Unpin Callback：nvidia_p2p_get_pages() 必须提供 callback，NVIDIA 驱动在需撤销时同步调用；callback 内须调用 nvidia_p2p_free_page_table()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</a:rPr>
              <a:t>数据面（设备侧：DMA 引擎直接读写 GPU BAR）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第三方设备 DMA 引擎对 GPU BAR 地址发起 read/write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与访问 system memory 方式相同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NVIDIA 内核驱动仅做地址翻译/映射，DMA 不经 CPU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</a:rPr>
              <a:t>死锁风险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>NVIDIA 驱动持锁后调 callback，第三方也持锁 → 需谨慎设计锁层次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190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NVIDIA GPUDirect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3333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五、GPU 兼容性矩阵 — GDR vs GDS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6984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212080"/>
                <a:gridCol w="365760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GDR (RDMA)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GDS (Storage)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架构门槛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Kepler+ (CUDA 5.0)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需暴露 BAR1 aperture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产品线 (能用)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Tesla (数据中心) / Quadro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Quadro / RTX (专业卡) / 数据中心 GPU (暴露 BAR1 子集)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不支持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GeForce 消费卡；Blackwell SoC (nv-p2p 已移除)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GeForce 消费卡；不暴露 BAR1 的 GPU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BAR1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Kepler 最小 256MB；Tesla large BAR 16GB+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传输超 aperture 自动分块+GPU 内 staging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检测属性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CU_DEVICE_ATTRIBUTE_GPU_DIRECT_RDMA_SUPPORTED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CU_DEVICE_ATTRIBUTE_DMA_BUF_SUPPORTED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内存要求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cudaMalloc (pinned)；Unified Memory 不显式支持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cudaMalloc / cuMemAlloc / cuMemCreate；cudaMallocManaged 走兼容路径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3492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</a:rPr>
              <a:t>GDS 需要 GPU 暴露 BAR1 aperture：仅 NVIDIA RTX (专业卡) 与数据中心 GPU 的子集满足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Blackwell SoC：CUDA 13.0 起 nv-p2p 不再支持 → 迁移到 Linux 上游内核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190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NVIDIA GPUDirect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3333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七、GDR 全生命周期 — 跨节点数据面示意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8E6C9"/>
                </a:solidFill>
              </a:rPr>
              <a:t>RDMA WRITE：节点 A 写节点 B 的 GPU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27432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  <a:latin typeface="Courier New"/>
              </a:rPr>
              <a:t>节点 A                              节点 B</a:t>
            </a:r>
            <a:br/>
            <a:r>
              <a:rPr sz="1000" b="0">
                <a:solidFill>
                  <a:srgbClr val="E0E0E0"/>
                </a:solidFill>
                <a:latin typeface="Courier New"/>
              </a:rPr>
              <a:t>+-----------+                      +-----------+</a:t>
            </a:r>
            <a:br/>
            <a:r>
              <a:rPr sz="1000" b="0">
                <a:solidFill>
                  <a:srgbClr val="E0E0E0"/>
                </a:solidFill>
                <a:latin typeface="Courier New"/>
              </a:rPr>
              <a:t>| 用户应用    |   控制面：            | 用户应用    |</a:t>
            </a:r>
            <a:br/>
            <a:r>
              <a:rPr sz="1000" b="0">
                <a:solidFill>
                  <a:srgbClr val="E0E0E0"/>
                </a:solidFill>
                <a:latin typeface="Courier New"/>
              </a:rPr>
              <a:t>| ibv_post   |   rkey+VA 互换       | (被动方)    |</a:t>
            </a:r>
            <a:br/>
            <a:r>
              <a:rPr sz="1000" b="0">
                <a:solidFill>
                  <a:srgbClr val="E0E0E0"/>
                </a:solidFill>
                <a:latin typeface="Courier New"/>
              </a:rPr>
              <a:t>| _send(WR)  | &lt;==============&gt;    |            |</a:t>
            </a:r>
            <a:br/>
            <a:r>
              <a:rPr sz="1000" b="0">
                <a:solidFill>
                  <a:srgbClr val="E0E0E0"/>
                </a:solidFill>
                <a:latin typeface="Courier New"/>
              </a:rPr>
              <a:t>+-----+-----+                      +-----+-----+</a:t>
            </a:r>
            <a:br/>
            <a:r>
              <a:rPr sz="1000" b="0">
                <a:solidFill>
                  <a:srgbClr val="E0E0E0"/>
                </a:solidFill>
                <a:latin typeface="Courier New"/>
              </a:rPr>
              <a:t>      |                                    |</a:t>
            </a:r>
            <a:br/>
            <a:r>
              <a:rPr sz="1000" b="0">
                <a:solidFill>
                  <a:srgbClr val="E0E0E0"/>
                </a:solidFill>
                <a:latin typeface="Courier New"/>
              </a:rPr>
              <a:t>------+-- 内核 ---------------------------+-- 内核 --</a:t>
            </a:r>
            <a:br/>
            <a:r>
              <a:rPr sz="1000" b="0">
                <a:solidFill>
                  <a:srgbClr val="E0E0E0"/>
                </a:solidFill>
                <a:latin typeface="Courier New"/>
              </a:rPr>
              <a:t>      |                                    |</a:t>
            </a:r>
            <a:br/>
            <a:r>
              <a:rPr sz="1000" b="0">
                <a:solidFill>
                  <a:srgbClr val="E0E0E0"/>
                </a:solidFill>
                <a:latin typeface="Courier New"/>
              </a:rPr>
              <a:t>+-----+-----+                      +-----+-----+</a:t>
            </a:r>
            <a:br/>
            <a:r>
              <a:rPr sz="1000" b="0">
                <a:solidFill>
                  <a:srgbClr val="E0E0E0"/>
                </a:solidFill>
                <a:latin typeface="Courier New"/>
              </a:rPr>
              <a:t>| nvidia.ko  |  pin GPU 页          | nvidia.ko  |  pin GPU 页</a:t>
            </a:r>
            <a:br/>
            <a:r>
              <a:rPr sz="1000" b="0">
                <a:solidFill>
                  <a:srgbClr val="E0E0E0"/>
                </a:solidFill>
                <a:latin typeface="Courier New"/>
              </a:rPr>
              <a:t>|+peermem.ko | &lt;-- 控制面           |+peermem.ko | &lt;-- 控制面</a:t>
            </a:r>
            <a:br/>
            <a:r>
              <a:rPr sz="1000" b="0">
                <a:solidFill>
                  <a:srgbClr val="E0E0E0"/>
                </a:solidFill>
                <a:latin typeface="Courier New"/>
              </a:rPr>
              <a:t>+-----+-----+                      +-----+-----+</a:t>
            </a:r>
            <a:br/>
            <a:r>
              <a:rPr sz="1000" b="0">
                <a:solidFill>
                  <a:srgbClr val="E0E0E0"/>
                </a:solidFill>
                <a:latin typeface="Courier New"/>
              </a:rPr>
              <a:t>      |                                    |</a:t>
            </a:r>
            <a:br/>
            <a:r>
              <a:rPr sz="1000" b="0">
                <a:solidFill>
                  <a:srgbClr val="E0E0E0"/>
                </a:solidFill>
                <a:latin typeface="Courier New"/>
              </a:rPr>
              <a:t>------+-- 数据面 -------------------------+-- 数据面 --</a:t>
            </a:r>
            <a:br/>
            <a:r>
              <a:rPr sz="1000" b="0">
                <a:solidFill>
                  <a:srgbClr val="E0E0E0"/>
                </a:solidFill>
                <a:latin typeface="Courier New"/>
              </a:rPr>
              <a:t>      |         +-----------+             |</a:t>
            </a:r>
            <a:br/>
            <a:r>
              <a:rPr sz="1000" b="0">
                <a:solidFill>
                  <a:srgbClr val="E0E0E0"/>
                </a:solidFill>
                <a:latin typeface="Courier New"/>
              </a:rPr>
              <a:t>+-----+---+ DMA | ConnectX  | 网络   +---+-----+</a:t>
            </a:r>
            <a:br/>
            <a:r>
              <a:rPr sz="1000" b="0">
                <a:solidFill>
                  <a:srgbClr val="E0E0E0"/>
                </a:solidFill>
                <a:latin typeface="Courier New"/>
              </a:rPr>
              <a:t>| GPU A    |&lt;---&gt;| HCA (A端) |-------&gt;| GPU B    |</a:t>
            </a:r>
            <a:br/>
            <a:r>
              <a:rPr sz="1000" b="0">
                <a:solidFill>
                  <a:srgbClr val="E0E0E0"/>
                </a:solidFill>
                <a:latin typeface="Courier New"/>
              </a:rPr>
              <a:t>| BAR1     | 读源 +-----------+ 写目的 | BAR1     |</a:t>
            </a:r>
            <a:br/>
            <a:r>
              <a:rPr sz="1000" b="0">
                <a:solidFill>
                  <a:srgbClr val="E0E0E0"/>
                </a:solidFill>
                <a:latin typeface="Courier New"/>
              </a:rPr>
              <a:t>+----------+                          +---------+</a:t>
            </a:r>
            <a:br/>
            <a:r>
              <a:rPr sz="1000" b="0">
                <a:solidFill>
                  <a:srgbClr val="E0E0E0"/>
                </a:solidFill>
                <a:latin typeface="Courier New"/>
              </a:rPr>
              <a:t>数据面全程不经任何一侧 CPU 内存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</a:rPr>
              <a:t>阶段 0 | 启动与就绪 — 搭好前置条件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BIOS 分配 BAR 窗口 → OS 枚举 PCIe 拓扑、配置 IOMMU (须禁用或直通)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加载 nvidia.ko → MLNX_OFED 栈 (ib_core + mlx5_ib) → modprobe nvidia-peermem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nvidia-peermem 向 ib_core 注册为 GPU peer memory client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190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NVIDIA GPUDirect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3333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七、GDR 全生命周期 — 阶段 1 内存注册 + 阶段 2 元数据交换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</a:rPr>
              <a:t>阶段 1 | 本地内存注册 (pin + mkey 编程)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>目标：GPU VA → GPU 物理/BAR 地址 → HCA mkey 转换表，产出 lkey/rkey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cudaMalloc 分配 GPU 显存，返回 UVA 空间中的 GPU 虚拟地址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cuPointerSetAttribute(SYNC_MEMOPS) 建立 CUDA 侧内存序一致性契约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ibv_alloc_pd / ibv_reg_mr 注册 Memory Region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ib_core 遍历 peer client 链表，nvidia-peermem 认领 GPU 内存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nvidia_p2p_get_pages() pin 住显存、返回 BAR 总线地址页表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mlx5_ib 编程 HCA 硬件 mkey 转换表 → 产出 lkey / rkey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</a:rPr>
              <a:t>阶段 2 | 跨节点元数据交换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>纯控制面：两端互换 (rkey, 注册 VA)——RDMA WRITE/READ 寻址远端的"门牌号"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创建 RC QP (Reliable Connection Queue Pair)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经 send/recv 互换 rkey + Remote VA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本步不涉及 nvidia.ko、nvidia-peermem、HCA mkey 修改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190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NVIDIA GPUDirect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3333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七、GDR 全生命周期 — 阶段 3 数据传输 + 阶段 4 销毁回收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</a:rPr>
              <a:t>阶段 3 | RDMA WRITE — 节点 A 写节点 B 的 GPU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A 端 ibv_post_send(WR=RDMA_WRITE) 异步提交，sge={VA, len, lkey}, remote={rkey, VA}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A 端 HCA DMA 引擎用 lkey 查 mkey 表 → PCIe 读 A 的 GPU BAR → 网络发送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B 端 HCA 拆包 → 查自己的 mkey 表 → PCIe 直写 B 的 GPU BAR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GPU BAR ←PCIe DMA→ HCA ←网络→ HCA ←PCIe DMA→ GPU BAR — 零 CPU 拷贝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</a:rPr>
              <a:t>RDMA READ 方向镜像：A 端主动拉取 B 的 GPU 数据，B 端 CPU 同样不参与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</a:rPr>
              <a:t>阶段 4 | 销毁与回收 — 安全拆掉映射链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正常路径：dereg_mr → nvidia_p2p_put_pages() → cudaFree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异常路径 (cudaFree 先于 dereg_mr)：free_callback 同步触发 → 等 DMA 完成 → nvidia_p2p_free_page_table()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进程退出时 callback 兜底，模块卸载反向 nvidia-peermem → MLNX_OFED → nvidia.ko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190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NVIDIA GPUDirect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3333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九、GDR vs GDS 总览对比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69848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846320"/>
                <a:gridCol w="42062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GDR (RDMA)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GDS (Storage)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目标设备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网卡 (NIC) / 采集卡 / 存储适配器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NVMe / NVMe-oF / NIC / RAID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直连对象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远程系统间 GPU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GPU ↔ 存储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用户态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cuPointerSetAttribute + 第三方通信库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cuFile API (cuFileRead/Write 等)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内核模块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nvidia.ko + nvidia-peermem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nvidia-fs.ko (GPLv2)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同步语义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SYNC_MEMOPS + CUDA 同步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CUDA stream 语义 / 同步调用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典型场景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多 GPU 集群通信、NCCL、MPI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数据加载、checkpoint、存储密集型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拓扑要求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同一 PCIe root complex; IOMMU 直通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同一 PCIe switch 最优；跨 root port 走动态路由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依赖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MLNX_OFED、ConnectX-3+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kernel 4.15+、MLNX_OFED 5.1+、ConnectX-5+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172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</a:rPr>
              <a:t>共同点：控制面在 CPU 建通路，数据面由设备 DMA 直连 GPU 显存，绕过 CPU bounce buffer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GDR 面向网络通信，GDS 面向存储 IO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190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NVIDIA GPUDirect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3333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十、典型应用场景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698479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955279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价值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AI 训练数据加载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大数据集从存储直达 GPU；DALI/kvikio 加速数据流水线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推理服务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模型权重/KV-cache 从存储直达 GPU，降低首 token 延迟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HPC 模拟 checkpoint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大规模 GPU 状态直接写存储，绕过 CPU，缩短 checkpoint 窗口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多 GPU 集群通信 (GDR)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NCCL/RDMA/MPI 分布式训练，GPU 间绕过 CPU 直接通信，10x 性能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推荐系统 (DLRM)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存储密集型场景，IO 直接进 GPU，消除 CPU 中转瓶颈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9377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</a:rPr>
              <a:t>适用条件 (GDS)：数据传输直接到/出 GPU；IO 显著瓶颈；使用 cudaMalloc + cuFile API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不适用：应用在 GPU 计算前后用 CPU 解析数据；计算时间远大于 IO 时间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190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NVIDIA GPUDirect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3333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十一、部署与启用要点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</a:rPr>
              <a:t>GDR 部署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安装 MLNX_OFED (带 RDMA peer memory 支持) + NVIDIA GPU 驱动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modprobe nvidia-peermem (注意：无自动加载服务，需手动)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检查拓扑：lspci -t；IOMMU 须禁用或 pass-through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第三方模块编译时链接 nvidia.ko 的 Module.symvers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</a:rPr>
              <a:t>GDS 部署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安装 CUDA Toolkit (含 libcufile.so) + nvidia-fs 内核驱动 (DKMS)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依赖：libmount-dev、libnuma-dev；RDMA FS：MLNX_OFED 5.1+, ConnectX-5+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配置 cufile.json (动态路由、mount_table、log level)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验证：gdscheck -p；监控 BAR1：nvidia-smi -q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</a:rPr>
              <a:t>已知坑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CUDA 12.2 race bug: R515-R535 invalidation callback 与 put_pages 并发 → 升级驱动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Blackwell SoC: nv-p2p 不可用 → 迁移 pin_user_pages / dma_map_sgtable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容器化：宿主机内核态组件 (nvidia-fs.ko/nvidia-peermem)，缺驱动时启用兼容模式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190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NVIDIA GPUDirect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3333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十二、总结 — 核心要点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>GDR 与 GDS 同属 GPUDirect 家族，核心范式一致：控制面在 CPU 建通路，数据面由设备 DMA 引擎直连 GPU 显存，绕过 CPU bounce buffer。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</a:rPr>
              <a:t>关键区别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GDR 面向网络 (NIC)，用 nvidia-peermem + nvidia_p2p_* API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GDS 面向存储，用 cuFile API + nvidia-fs.ko (GPLv2)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</a:rPr>
              <a:t>GPU 兼容性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GDR: Tesla/Quadro (Kepler+)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GDS: 暴露 BAR1 的 RTX/数据中心 GPU 子集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GeForce 消费卡均不支持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</a:rPr>
              <a:t>演进方向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>从专有 nv-p2p 迁移到 Linux 上游 pin_user_pages / dma_map_sgtable；NVMe 路径走 upstream PCI P2PDMA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</a:rPr>
              <a:t>参考链接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>GPUDirect 主页 | GPUDirect RDMA 文档 | GDS Overview / Design Guide | Magnum IO | nv_peer_memory (GitHub)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190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NVIDIA GPUDirect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3333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图 1：传统路径 vs GPUDirect 直连路径对比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图 2：GDR 软件栈分层架构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图 3：第三方驱动接入 GDR 的数据路径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图 4：跨节点 GDR 数据面（RDMA WRITE）时序流程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图 5：GDS 软件栈分层架构与 Workflow 1 调用栈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图 6：Phoenix 架构对比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图 7：GDR 全生命周期五阶段时序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图 8：控制面 vs 数据面核心范式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